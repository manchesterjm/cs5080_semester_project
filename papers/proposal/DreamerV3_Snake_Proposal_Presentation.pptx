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6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FB879"/>
    <a:srgbClr val="D3B979"/>
    <a:srgbClr val="D2C121"/>
    <a:srgbClr val="D2BF2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7" d="100"/>
          <a:sy n="107" d="100"/>
        </p:scale>
        <p:origin x="3354" y="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6947AC1-B2F2-4502-A893-6390D5360391}" type="datetimeFigureOut">
              <a:t>2/11/2026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D8D3289-85B1-4FBA-BBA8-E9746D0F1C74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96463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381000" y="5807075"/>
            <a:ext cx="21336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5807075"/>
            <a:ext cx="28956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629400" y="5807075"/>
            <a:ext cx="2133600" cy="365125"/>
          </a:xfrm>
        </p:spPr>
        <p:txBody>
          <a:bodyPr/>
          <a:lstStyle/>
          <a:p>
            <a:fld id="{9E3EFB43-BEAF-4970-A06C-24B01B76FA9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Date Placeholder 3"/>
          <p:cNvSpPr>
            <a:spLocks noGrp="1"/>
          </p:cNvSpPr>
          <p:nvPr>
            <p:ph type="dt" sz="half" idx="10"/>
          </p:nvPr>
        </p:nvSpPr>
        <p:spPr>
          <a:xfrm>
            <a:off x="381000" y="5807075"/>
            <a:ext cx="21336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11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5807075"/>
            <a:ext cx="28956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629400" y="5807075"/>
            <a:ext cx="2133600" cy="365125"/>
          </a:xfrm>
        </p:spPr>
        <p:txBody>
          <a:bodyPr/>
          <a:lstStyle/>
          <a:p>
            <a:fld id="{9E3EFB43-BEAF-4970-A06C-24B01B76FA9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>
          <a:xfrm>
            <a:off x="381000" y="5807075"/>
            <a:ext cx="21336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5807075"/>
            <a:ext cx="28956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629400" y="5807075"/>
            <a:ext cx="2133600" cy="365125"/>
          </a:xfrm>
        </p:spPr>
        <p:txBody>
          <a:bodyPr/>
          <a:lstStyle/>
          <a:p>
            <a:fld id="{9E3EFB43-BEAF-4970-A06C-24B01B76FA9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Date Placeholder 3"/>
          <p:cNvSpPr>
            <a:spLocks noGrp="1"/>
          </p:cNvSpPr>
          <p:nvPr>
            <p:ph type="dt" sz="half" idx="10"/>
          </p:nvPr>
        </p:nvSpPr>
        <p:spPr>
          <a:xfrm>
            <a:off x="381000" y="5807075"/>
            <a:ext cx="21336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9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5807075"/>
            <a:ext cx="28956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629400" y="5807075"/>
            <a:ext cx="2133600" cy="365125"/>
          </a:xfrm>
        </p:spPr>
        <p:txBody>
          <a:bodyPr/>
          <a:lstStyle/>
          <a:p>
            <a:fld id="{9E3EFB43-BEAF-4970-A06C-24B01B76FA9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Date Placeholder 3"/>
          <p:cNvSpPr>
            <a:spLocks noGrp="1"/>
          </p:cNvSpPr>
          <p:nvPr>
            <p:ph type="dt" sz="half" idx="10"/>
          </p:nvPr>
        </p:nvSpPr>
        <p:spPr>
          <a:xfrm>
            <a:off x="381000" y="5807075"/>
            <a:ext cx="21336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11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5807075"/>
            <a:ext cx="28956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629400" y="5807075"/>
            <a:ext cx="2133600" cy="365125"/>
          </a:xfrm>
        </p:spPr>
        <p:txBody>
          <a:bodyPr/>
          <a:lstStyle/>
          <a:p>
            <a:fld id="{9E3EFB43-BEAF-4970-A06C-24B01B76FA9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10"/>
          </p:nvPr>
        </p:nvSpPr>
        <p:spPr>
          <a:xfrm>
            <a:off x="381000" y="5807075"/>
            <a:ext cx="21336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5807075"/>
            <a:ext cx="28956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629400" y="5807075"/>
            <a:ext cx="2133600" cy="365125"/>
          </a:xfrm>
        </p:spPr>
        <p:txBody>
          <a:bodyPr/>
          <a:lstStyle/>
          <a:p>
            <a:fld id="{9E3EFB43-BEAF-4970-A06C-24B01B76FA9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>
          <a:xfrm>
            <a:off x="381000" y="5807075"/>
            <a:ext cx="21336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5807075"/>
            <a:ext cx="28956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629400" y="5807075"/>
            <a:ext cx="2133600" cy="365125"/>
          </a:xfrm>
        </p:spPr>
        <p:txBody>
          <a:bodyPr/>
          <a:lstStyle/>
          <a:p>
            <a:fld id="{9E3EFB43-BEAF-4970-A06C-24B01B76FA9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3"/>
          <p:cNvSpPr>
            <a:spLocks noGrp="1"/>
          </p:cNvSpPr>
          <p:nvPr>
            <p:ph type="dt" sz="half" idx="10"/>
          </p:nvPr>
        </p:nvSpPr>
        <p:spPr>
          <a:xfrm>
            <a:off x="381000" y="5807075"/>
            <a:ext cx="21336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9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5807075"/>
            <a:ext cx="28956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629400" y="5807075"/>
            <a:ext cx="2133600" cy="365125"/>
          </a:xfrm>
        </p:spPr>
        <p:txBody>
          <a:bodyPr/>
          <a:lstStyle/>
          <a:p>
            <a:fld id="{9E3EFB43-BEAF-4970-A06C-24B01B76FA9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3"/>
          <p:cNvSpPr>
            <a:spLocks noGrp="1"/>
          </p:cNvSpPr>
          <p:nvPr>
            <p:ph type="dt" sz="half" idx="10"/>
          </p:nvPr>
        </p:nvSpPr>
        <p:spPr>
          <a:xfrm>
            <a:off x="381000" y="5807075"/>
            <a:ext cx="21336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9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5807075"/>
            <a:ext cx="28956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629400" y="5807075"/>
            <a:ext cx="2133600" cy="365125"/>
          </a:xfrm>
        </p:spPr>
        <p:txBody>
          <a:bodyPr/>
          <a:lstStyle/>
          <a:p>
            <a:fld id="{9E3EFB43-BEAF-4970-A06C-24B01B76FA9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>
          <a:xfrm>
            <a:off x="381000" y="5807075"/>
            <a:ext cx="21336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5807075"/>
            <a:ext cx="28956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629400" y="5807075"/>
            <a:ext cx="2133600" cy="365125"/>
          </a:xfrm>
        </p:spPr>
        <p:txBody>
          <a:bodyPr/>
          <a:lstStyle/>
          <a:p>
            <a:fld id="{9E3EFB43-BEAF-4970-A06C-24B01B76FA9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>
          <a:xfrm>
            <a:off x="381000" y="5807075"/>
            <a:ext cx="21336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5807075"/>
            <a:ext cx="28956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629400" y="5807075"/>
            <a:ext cx="2133600" cy="365125"/>
          </a:xfrm>
        </p:spPr>
        <p:txBody>
          <a:bodyPr/>
          <a:lstStyle/>
          <a:p>
            <a:fld id="{9E3EFB43-BEAF-4970-A06C-24B01B76FA9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 userDrawn="1"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tx1"/>
          </a:solidFill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 descr="UCCS Signature - Reverse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300" y="2438400"/>
            <a:ext cx="7391400" cy="1023257"/>
          </a:xfrm>
          <a:prstGeom prst="rect">
            <a:avLst/>
          </a:prstGeom>
        </p:spPr>
      </p:pic>
      <p:pic>
        <p:nvPicPr>
          <p:cNvPr id="5" name="Picture 4" descr="UCwCampusesRev.png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0" y="4191000"/>
            <a:ext cx="5029200" cy="9607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74754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903497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1"/>
            <a:ext cx="8229600" cy="4419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549ADDE-98E8-4149-84E6-9A28F99CE161}" type="datetimeFigureOut">
              <a:rPr lang="en-US" smtClean="0"/>
              <a:pPr/>
              <a:t>2/11/2026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E3EFB43-BEAF-4970-A06C-24B01B76FA9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0" y="6172200"/>
            <a:ext cx="9144000" cy="685800"/>
          </a:xfrm>
          <a:prstGeom prst="rect">
            <a:avLst/>
          </a:prstGeom>
          <a:solidFill>
            <a:schemeClr val="tx1"/>
          </a:soli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 descr="UCCS Signature - Reverse.png"/>
          <p:cNvPicPr>
            <a:picLocks noChangeAspect="1"/>
          </p:cNvPicPr>
          <p:nvPr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6351379"/>
            <a:ext cx="2581774" cy="354221"/>
          </a:xfrm>
          <a:prstGeom prst="rect">
            <a:avLst/>
          </a:prstGeom>
        </p:spPr>
      </p:pic>
      <p:pic>
        <p:nvPicPr>
          <p:cNvPr id="12" name="Picture 11" descr="UCwCampusesRev.png"/>
          <p:cNvPicPr>
            <a:picLocks noChangeAspect="1"/>
          </p:cNvPicPr>
          <p:nvPr userDrawn="1"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77000" y="6283472"/>
            <a:ext cx="2209801" cy="422128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defTabSz="914400" rtl="0" eaLnBrk="1" latinLnBrk="0" hangingPunct="1">
        <a:spcBef>
          <a:spcPct val="0"/>
        </a:spcBef>
        <a:buNone/>
        <a:defRPr sz="4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2800" kern="1200">
          <a:solidFill>
            <a:schemeClr val="tx1"/>
          </a:solidFill>
          <a:latin typeface="Arial Black"/>
          <a:ea typeface="+mn-ea"/>
          <a:cs typeface="Arial Black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b="1" i="1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3558" y="1073974"/>
            <a:ext cx="7776882" cy="1115205"/>
          </a:xfrm>
        </p:spPr>
        <p:txBody>
          <a:bodyPr>
            <a:normAutofit fontScale="90000"/>
          </a:bodyPr>
          <a:lstStyle/>
          <a:p>
            <a:r>
              <a:rPr dirty="0"/>
              <a:t>How Accurate Are Learned World Models?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6082" y="3105374"/>
            <a:ext cx="6391835" cy="2121049"/>
          </a:xfrm>
        </p:spPr>
        <p:txBody>
          <a:bodyPr/>
          <a:lstStyle/>
          <a:p>
            <a:r>
              <a:rPr dirty="0">
                <a:latin typeface="+mn-lt"/>
              </a:rPr>
              <a:t>DreamerV3's Imagination on Snake</a:t>
            </a:r>
          </a:p>
          <a:p>
            <a:endParaRPr dirty="0">
              <a:latin typeface="+mn-lt"/>
            </a:endParaRPr>
          </a:p>
          <a:p>
            <a:r>
              <a:rPr dirty="0">
                <a:latin typeface="+mn-lt"/>
              </a:rPr>
              <a:t>Josh Manchester — CS 5080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sz="3200" dirty="0"/>
              <a:t>Model-Based RL: Learning by Dreaming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3868270"/>
          </a:xfrm>
        </p:spPr>
        <p:txBody>
          <a:bodyPr>
            <a:normAutofit/>
          </a:bodyPr>
          <a:lstStyle/>
          <a:p>
            <a:pPr>
              <a:spcAft>
                <a:spcPts val="400"/>
              </a:spcAft>
            </a:pPr>
            <a:r>
              <a:rPr sz="2000" i="0" dirty="0">
                <a:latin typeface="+mn-lt"/>
              </a:rPr>
              <a:t>Model-free RL learns by trial and error in the real environment</a:t>
            </a:r>
          </a:p>
          <a:p>
            <a:pPr>
              <a:spcAft>
                <a:spcPts val="400"/>
              </a:spcAft>
            </a:pPr>
            <a:r>
              <a:rPr sz="2000" i="0" dirty="0">
                <a:latin typeface="+mn-lt"/>
              </a:rPr>
              <a:t>Model-based RL learns how the environment works first, then plans</a:t>
            </a:r>
          </a:p>
          <a:p>
            <a:pPr>
              <a:spcAft>
                <a:spcPts val="400"/>
              </a:spcAft>
            </a:pPr>
            <a:r>
              <a:rPr sz="2000" i="0" dirty="0">
                <a:latin typeface="+mn-lt"/>
              </a:rPr>
              <a:t>DreamerV3 takes this further:</a:t>
            </a:r>
          </a:p>
          <a:p>
            <a:pPr lvl="1">
              <a:spcAft>
                <a:spcPts val="400"/>
              </a:spcAft>
            </a:pPr>
            <a:r>
              <a:rPr sz="2000" i="0" dirty="0"/>
              <a:t>The agent "dreams" about what might happen</a:t>
            </a:r>
          </a:p>
          <a:p>
            <a:pPr lvl="1">
              <a:spcAft>
                <a:spcPts val="400"/>
              </a:spcAft>
            </a:pPr>
            <a:r>
              <a:rPr sz="2000" i="0" dirty="0"/>
              <a:t>Trains its policy entirely inside the learned world model</a:t>
            </a:r>
          </a:p>
          <a:p>
            <a:pPr lvl="1">
              <a:spcAft>
                <a:spcPts val="400"/>
              </a:spcAft>
            </a:pPr>
            <a:r>
              <a:rPr sz="2000" i="0" dirty="0"/>
              <a:t>Never touches the real environment during policy optimization</a:t>
            </a:r>
          </a:p>
          <a:p>
            <a:pPr>
              <a:spcAft>
                <a:spcPts val="400"/>
              </a:spcAft>
            </a:pPr>
            <a:r>
              <a:rPr sz="2000" i="0" dirty="0">
                <a:latin typeface="+mn-lt"/>
              </a:rPr>
              <a:t>One algorithm, fixed hyperparameters — masters Atari, robotics, and Minecraft</a:t>
            </a:r>
          </a:p>
          <a:p>
            <a:pPr>
              <a:spcAft>
                <a:spcPts val="400"/>
              </a:spcAft>
            </a:pPr>
            <a:r>
              <a:rPr sz="2000" i="1" dirty="0">
                <a:latin typeface="+mn-lt"/>
              </a:rPr>
              <a:t>Hafner et al., Nature, 2025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3600" dirty="0"/>
              <a:t>The Research Question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spcAft>
                <a:spcPts val="400"/>
              </a:spcAft>
              <a:buNone/>
            </a:pPr>
            <a:r>
              <a:rPr lang="en-US" sz="2000" i="0" dirty="0">
                <a:latin typeface="+mn-lt"/>
              </a:rPr>
              <a:t>- </a:t>
            </a:r>
            <a:r>
              <a:rPr sz="2000" i="0" dirty="0">
                <a:latin typeface="+mn-lt"/>
              </a:rPr>
              <a:t>DreamerV3 trains inside imagined trajectories</a:t>
            </a:r>
          </a:p>
          <a:p>
            <a:pPr marL="0" indent="0">
              <a:spcAft>
                <a:spcPts val="400"/>
              </a:spcAft>
              <a:buNone/>
            </a:pPr>
            <a:endParaRPr sz="2000" i="0" dirty="0">
              <a:latin typeface="+mn-lt"/>
            </a:endParaRPr>
          </a:p>
          <a:p>
            <a:pPr marL="0" indent="0">
              <a:spcAft>
                <a:spcPts val="400"/>
              </a:spcAft>
              <a:buNone/>
            </a:pPr>
            <a:r>
              <a:rPr lang="en-US" sz="2000" i="0" dirty="0">
                <a:latin typeface="+mn-lt"/>
              </a:rPr>
              <a:t>** But how accurate are those imaginations? **</a:t>
            </a:r>
            <a:endParaRPr sz="2000" i="0" dirty="0">
              <a:latin typeface="+mn-lt"/>
            </a:endParaRPr>
          </a:p>
          <a:p>
            <a:pPr marL="0" indent="0">
              <a:spcAft>
                <a:spcPts val="400"/>
              </a:spcAft>
              <a:buNone/>
            </a:pPr>
            <a:endParaRPr sz="2000" i="0" dirty="0">
              <a:latin typeface="+mn-lt"/>
            </a:endParaRPr>
          </a:p>
          <a:p>
            <a:pPr marL="0" indent="0">
              <a:spcAft>
                <a:spcPts val="400"/>
              </a:spcAft>
              <a:buNone/>
            </a:pPr>
            <a:r>
              <a:rPr lang="en-US" sz="2000" i="0" dirty="0">
                <a:latin typeface="+mn-lt"/>
              </a:rPr>
              <a:t>- </a:t>
            </a:r>
            <a:r>
              <a:rPr sz="2000" i="0" dirty="0">
                <a:latin typeface="+mn-lt"/>
              </a:rPr>
              <a:t>If the world model predicts the wrong outcome for an action,</a:t>
            </a:r>
            <a:endParaRPr lang="en-US" sz="2000" i="0" dirty="0">
              <a:latin typeface="+mn-lt"/>
            </a:endParaRPr>
          </a:p>
          <a:p>
            <a:pPr marL="0" indent="0">
              <a:spcAft>
                <a:spcPts val="400"/>
              </a:spcAft>
              <a:buNone/>
            </a:pPr>
            <a:r>
              <a:rPr sz="2000" i="0" dirty="0">
                <a:latin typeface="+mn-lt"/>
              </a:rPr>
              <a:t>the agent is optimizing for a scenario that does not exist.</a:t>
            </a:r>
          </a:p>
          <a:p>
            <a:pPr marL="0" indent="0">
              <a:spcAft>
                <a:spcPts val="400"/>
              </a:spcAft>
              <a:buNone/>
            </a:pPr>
            <a:endParaRPr sz="2000" i="0" dirty="0">
              <a:latin typeface="+mn-lt"/>
            </a:endParaRPr>
          </a:p>
          <a:p>
            <a:pPr marL="0" indent="0">
              <a:spcAft>
                <a:spcPts val="400"/>
              </a:spcAft>
              <a:buNone/>
            </a:pPr>
            <a:r>
              <a:rPr lang="en-US" sz="2000" i="1" dirty="0">
                <a:latin typeface="+mn-lt"/>
              </a:rPr>
              <a:t>- </a:t>
            </a:r>
            <a:r>
              <a:rPr sz="2000" i="1" dirty="0">
                <a:latin typeface="+mn-lt"/>
              </a:rPr>
              <a:t>Does the agent need accurate dreams to play well?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3600" dirty="0"/>
              <a:t>Why This Matters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3572434"/>
          </a:xfrm>
        </p:spPr>
        <p:txBody>
          <a:bodyPr/>
          <a:lstStyle/>
          <a:p>
            <a:pPr>
              <a:spcAft>
                <a:spcPts val="400"/>
              </a:spcAft>
            </a:pPr>
            <a:r>
              <a:rPr sz="1800" b="0" i="0" dirty="0">
                <a:latin typeface="+mn-lt"/>
              </a:rPr>
              <a:t>Most DreamerV3 research focuses on end-task performance</a:t>
            </a:r>
          </a:p>
          <a:p>
            <a:pPr lvl="1">
              <a:spcAft>
                <a:spcPts val="400"/>
              </a:spcAft>
            </a:pPr>
            <a:r>
              <a:rPr sz="1800" b="0" i="0" dirty="0"/>
              <a:t>Scores, win rates, learning speed</a:t>
            </a:r>
          </a:p>
          <a:p>
            <a:pPr>
              <a:spcAft>
                <a:spcPts val="400"/>
              </a:spcAft>
            </a:pPr>
            <a:r>
              <a:rPr sz="1800" b="0" i="0" dirty="0">
                <a:latin typeface="+mn-lt"/>
              </a:rPr>
              <a:t>Nobody has systematically measured how faithful the imagination is to reality</a:t>
            </a:r>
          </a:p>
          <a:p>
            <a:pPr>
              <a:spcAft>
                <a:spcPts val="400"/>
              </a:spcAft>
            </a:pPr>
            <a:r>
              <a:rPr sz="1800" b="0" i="0" dirty="0">
                <a:latin typeface="+mn-lt"/>
              </a:rPr>
              <a:t>Understanding imagination accuracy could reveal:</a:t>
            </a:r>
          </a:p>
          <a:p>
            <a:pPr lvl="1">
              <a:spcAft>
                <a:spcPts val="400"/>
              </a:spcAft>
            </a:pPr>
            <a:r>
              <a:rPr sz="1800" b="0" i="0" dirty="0"/>
              <a:t>Why model-based RL works despite imperfect models</a:t>
            </a:r>
          </a:p>
          <a:p>
            <a:pPr lvl="1">
              <a:spcAft>
                <a:spcPts val="400"/>
              </a:spcAft>
            </a:pPr>
            <a:r>
              <a:rPr sz="1800" b="0" i="0" dirty="0"/>
              <a:t>What the world model actually learns to represent</a:t>
            </a:r>
          </a:p>
          <a:p>
            <a:pPr lvl="1">
              <a:spcAft>
                <a:spcPts val="400"/>
              </a:spcAft>
            </a:pPr>
            <a:r>
              <a:rPr sz="1800" b="0" i="0" dirty="0"/>
              <a:t>Where model-based RL breaks down</a:t>
            </a:r>
          </a:p>
          <a:p>
            <a:pPr>
              <a:spcAft>
                <a:spcPts val="400"/>
              </a:spcAft>
            </a:pPr>
            <a:r>
              <a:rPr sz="1800" b="0" i="0" dirty="0">
                <a:latin typeface="+mn-lt"/>
              </a:rPr>
              <a:t>No prior work has done this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3600" dirty="0"/>
              <a:t>Why Snake?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1"/>
            <a:ext cx="4038600" cy="3527612"/>
          </a:xfrm>
        </p:spPr>
        <p:txBody>
          <a:bodyPr/>
          <a:lstStyle/>
          <a:p>
            <a:pPr>
              <a:spcAft>
                <a:spcPts val="400"/>
              </a:spcAft>
            </a:pPr>
            <a:r>
              <a:rPr sz="1600" b="0" i="0" dirty="0">
                <a:latin typeface="+mn-lt"/>
              </a:rPr>
              <a:t>Simple, deterministic dynamics</a:t>
            </a:r>
          </a:p>
          <a:p>
            <a:pPr lvl="1">
              <a:spcAft>
                <a:spcPts val="400"/>
              </a:spcAft>
            </a:pPr>
            <a:r>
              <a:rPr sz="1400" b="0" i="0" dirty="0"/>
              <a:t>Snake moves one cell per step</a:t>
            </a:r>
          </a:p>
          <a:p>
            <a:pPr lvl="1">
              <a:spcAft>
                <a:spcPts val="400"/>
              </a:spcAft>
            </a:pPr>
            <a:r>
              <a:rPr sz="1400" b="0" i="0" dirty="0"/>
              <a:t>Collisions end the game</a:t>
            </a:r>
          </a:p>
          <a:p>
            <a:pPr lvl="1">
              <a:spcAft>
                <a:spcPts val="400"/>
              </a:spcAft>
            </a:pPr>
            <a:r>
              <a:rPr sz="1400" b="0" i="0" dirty="0"/>
              <a:t>Only randomness: food placement</a:t>
            </a:r>
          </a:p>
          <a:p>
            <a:pPr>
              <a:spcAft>
                <a:spcPts val="400"/>
              </a:spcAft>
            </a:pPr>
            <a:r>
              <a:rPr sz="1600" b="0" i="0" dirty="0">
                <a:latin typeface="+mn-lt"/>
              </a:rPr>
              <a:t>Fully interpretable state</a:t>
            </a:r>
          </a:p>
          <a:p>
            <a:pPr lvl="1">
              <a:spcAft>
                <a:spcPts val="400"/>
              </a:spcAft>
            </a:pPr>
            <a:r>
              <a:rPr sz="1400" b="0" i="0" dirty="0"/>
              <a:t>Head, body, and food positions</a:t>
            </a:r>
          </a:p>
          <a:p>
            <a:pPr>
              <a:spcAft>
                <a:spcPts val="400"/>
              </a:spcAft>
            </a:pPr>
            <a:r>
              <a:rPr sz="1600" b="0" i="0" dirty="0">
                <a:latin typeface="+mn-lt"/>
              </a:rPr>
              <a:t>When the model imagines wrong, I can pinpoint exactly what went wrong</a:t>
            </a:r>
          </a:p>
          <a:p>
            <a:pPr>
              <a:spcAft>
                <a:spcPts val="400"/>
              </a:spcAft>
            </a:pPr>
            <a:r>
              <a:rPr sz="1600" b="0" i="0" dirty="0">
                <a:latin typeface="+mn-lt"/>
              </a:rPr>
              <a:t>Not yet studied with DreamerV3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1"/>
            <a:ext cx="4038600" cy="2281518"/>
          </a:xfrm>
        </p:spPr>
        <p:txBody>
          <a:bodyPr/>
          <a:lstStyle/>
          <a:p>
            <a:pPr>
              <a:spcAft>
                <a:spcPts val="400"/>
              </a:spcAft>
            </a:pPr>
            <a:r>
              <a:rPr sz="1800" b="0" i="0" dirty="0">
                <a:latin typeface="+mn-lt"/>
              </a:rPr>
              <a:t>Snake as an MDP</a:t>
            </a:r>
          </a:p>
          <a:p>
            <a:pPr>
              <a:spcAft>
                <a:spcPts val="400"/>
              </a:spcAft>
            </a:pPr>
            <a:endParaRPr sz="1800" b="0" i="0" dirty="0">
              <a:latin typeface="+mn-lt"/>
            </a:endParaRPr>
          </a:p>
          <a:p>
            <a:pPr>
              <a:spcAft>
                <a:spcPts val="400"/>
              </a:spcAft>
            </a:pPr>
            <a:r>
              <a:rPr sz="1600" b="0" i="0" dirty="0">
                <a:latin typeface="+mn-lt"/>
              </a:rPr>
              <a:t>State: N × N grid (RGB)</a:t>
            </a:r>
          </a:p>
          <a:p>
            <a:pPr>
              <a:spcAft>
                <a:spcPts val="400"/>
              </a:spcAft>
            </a:pPr>
            <a:r>
              <a:rPr sz="1600" b="0" i="0" dirty="0">
                <a:latin typeface="+mn-lt"/>
              </a:rPr>
              <a:t>Actions: {Up, Down, L, R}</a:t>
            </a:r>
          </a:p>
          <a:p>
            <a:pPr>
              <a:spcAft>
                <a:spcPts val="400"/>
              </a:spcAft>
            </a:pPr>
            <a:r>
              <a:rPr sz="1600" b="0" i="0" dirty="0">
                <a:latin typeface="+mn-lt"/>
              </a:rPr>
              <a:t>Reward: +1 food, −1 collision</a:t>
            </a:r>
          </a:p>
          <a:p>
            <a:pPr>
              <a:spcAft>
                <a:spcPts val="400"/>
              </a:spcAft>
            </a:pPr>
            <a:r>
              <a:rPr sz="1600" b="0" i="0" dirty="0">
                <a:latin typeface="+mn-lt"/>
              </a:rPr>
              <a:t>Discount: γ = 0.999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3600" dirty="0"/>
              <a:t>DreamerV3 Architecture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400"/>
              </a:spcAft>
            </a:pPr>
            <a:r>
              <a:rPr sz="1800" b="0" i="0" dirty="0">
                <a:latin typeface="+mn-lt"/>
              </a:rPr>
              <a:t>World Model (RSSM — Recurrent State-Space Model):</a:t>
            </a:r>
          </a:p>
          <a:p>
            <a:pPr lvl="1">
              <a:spcAft>
                <a:spcPts val="400"/>
              </a:spcAft>
            </a:pPr>
            <a:r>
              <a:rPr sz="1800" b="0" i="0" dirty="0"/>
              <a:t>Encodes observations into latent states</a:t>
            </a:r>
          </a:p>
          <a:p>
            <a:pPr lvl="1">
              <a:spcAft>
                <a:spcPts val="400"/>
              </a:spcAft>
            </a:pPr>
            <a:r>
              <a:rPr sz="1800" b="0" i="0" dirty="0"/>
              <a:t>Deterministic path (GRU) captures persistent information</a:t>
            </a:r>
          </a:p>
          <a:p>
            <a:pPr lvl="1">
              <a:spcAft>
                <a:spcPts val="400"/>
              </a:spcAft>
            </a:pPr>
            <a:r>
              <a:rPr sz="1800" b="0" i="0" dirty="0"/>
              <a:t>Stochastic path models environment uncertainty</a:t>
            </a:r>
          </a:p>
          <a:p>
            <a:pPr lvl="1">
              <a:spcAft>
                <a:spcPts val="400"/>
              </a:spcAft>
            </a:pPr>
            <a:r>
              <a:rPr sz="1800" b="0" i="0" dirty="0"/>
              <a:t>Predicts next states, rewards, and reconstructed observations</a:t>
            </a:r>
          </a:p>
          <a:p>
            <a:pPr>
              <a:spcAft>
                <a:spcPts val="400"/>
              </a:spcAft>
            </a:pPr>
            <a:r>
              <a:rPr sz="1800" b="0" i="0" dirty="0">
                <a:latin typeface="+mn-lt"/>
              </a:rPr>
              <a:t>Actor-Critic trained entirely in imagination:</a:t>
            </a:r>
          </a:p>
          <a:p>
            <a:pPr lvl="1">
              <a:spcAft>
                <a:spcPts val="400"/>
              </a:spcAft>
            </a:pPr>
            <a:r>
              <a:rPr sz="1800" b="0" i="0" dirty="0"/>
              <a:t>Actor selects actions in latent space</a:t>
            </a:r>
          </a:p>
          <a:p>
            <a:pPr lvl="1">
              <a:spcAft>
                <a:spcPts val="400"/>
              </a:spcAft>
            </a:pPr>
            <a:r>
              <a:rPr sz="1800" b="0" i="0" dirty="0"/>
              <a:t>Critic estimates value of imagined states</a:t>
            </a:r>
          </a:p>
          <a:p>
            <a:pPr lvl="1">
              <a:spcAft>
                <a:spcPts val="400"/>
              </a:spcAft>
            </a:pPr>
            <a:r>
              <a:rPr sz="1800" b="0" i="0" dirty="0"/>
              <a:t>No real environment interaction during policy learning</a:t>
            </a:r>
          </a:p>
          <a:p>
            <a:pPr>
              <a:spcAft>
                <a:spcPts val="400"/>
              </a:spcAft>
            </a:pPr>
            <a:r>
              <a:rPr sz="1800" b="0" i="0" dirty="0">
                <a:latin typeface="+mn-lt"/>
              </a:rPr>
              <a:t>Key innovations: </a:t>
            </a:r>
            <a:r>
              <a:rPr sz="1800" b="0" i="0" dirty="0" err="1">
                <a:latin typeface="+mn-lt"/>
              </a:rPr>
              <a:t>symlog</a:t>
            </a:r>
            <a:r>
              <a:rPr sz="1800" b="0" i="0" dirty="0">
                <a:latin typeface="+mn-lt"/>
              </a:rPr>
              <a:t> predictions, fixed hyperparameters across domains</a:t>
            </a:r>
          </a:p>
          <a:p>
            <a:pPr>
              <a:spcAft>
                <a:spcPts val="400"/>
              </a:spcAft>
            </a:pPr>
            <a:r>
              <a:rPr sz="1400" b="0" i="1" dirty="0">
                <a:latin typeface="+mn-lt"/>
              </a:rPr>
              <a:t>Built on: Hafner et al. (2019, 2020, 2021, 2025)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sz="3200" dirty="0"/>
              <a:t>Method: Training &amp; Trajectory Extraction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17638"/>
            <a:ext cx="8229600" cy="4419600"/>
          </a:xfrm>
        </p:spPr>
        <p:txBody>
          <a:bodyPr>
            <a:normAutofit/>
          </a:bodyPr>
          <a:lstStyle/>
          <a:p>
            <a:pPr>
              <a:spcAft>
                <a:spcPts val="400"/>
              </a:spcAft>
            </a:pPr>
            <a:r>
              <a:rPr sz="1800" b="0" i="0" dirty="0">
                <a:latin typeface="+mn-lt"/>
              </a:rPr>
              <a:t>Step 1: Train DreamerV3 on Snake</a:t>
            </a:r>
          </a:p>
          <a:p>
            <a:pPr lvl="1">
              <a:spcAft>
                <a:spcPts val="400"/>
              </a:spcAft>
            </a:pPr>
            <a:r>
              <a:rPr sz="1800" b="0" i="0" dirty="0"/>
              <a:t>Gymnasium-compatible environment, 64×64 RGB observations</a:t>
            </a:r>
          </a:p>
          <a:p>
            <a:pPr lvl="1">
              <a:spcAft>
                <a:spcPts val="400"/>
              </a:spcAft>
            </a:pPr>
            <a:r>
              <a:rPr sz="1800" b="0" i="0" dirty="0"/>
              <a:t>1 million environment steps, checkpoints every 50K steps</a:t>
            </a:r>
          </a:p>
          <a:p>
            <a:pPr>
              <a:spcAft>
                <a:spcPts val="400"/>
              </a:spcAft>
            </a:pPr>
            <a:endParaRPr sz="1800" b="0" i="0" dirty="0">
              <a:latin typeface="+mn-lt"/>
            </a:endParaRPr>
          </a:p>
          <a:p>
            <a:pPr>
              <a:spcAft>
                <a:spcPts val="400"/>
              </a:spcAft>
            </a:pPr>
            <a:r>
              <a:rPr sz="1800" b="0" i="0" dirty="0">
                <a:latin typeface="+mn-lt"/>
              </a:rPr>
              <a:t>Step 2: Extract matched trajectories at each checkpoint</a:t>
            </a:r>
          </a:p>
          <a:p>
            <a:pPr lvl="1">
              <a:spcAft>
                <a:spcPts val="400"/>
              </a:spcAft>
            </a:pPr>
            <a:r>
              <a:rPr sz="1800" b="0" i="0" dirty="0"/>
              <a:t>1. Record a real trajectory using the current policy</a:t>
            </a:r>
          </a:p>
          <a:p>
            <a:pPr lvl="1">
              <a:spcAft>
                <a:spcPts val="400"/>
              </a:spcAft>
            </a:pPr>
            <a:r>
              <a:rPr sz="1800" b="0" i="0" dirty="0"/>
              <a:t>2. Feed the initial observation into the world model</a:t>
            </a:r>
          </a:p>
          <a:p>
            <a:pPr lvl="1">
              <a:spcAft>
                <a:spcPts val="400"/>
              </a:spcAft>
            </a:pPr>
            <a:r>
              <a:rPr sz="1800" b="0" i="0" dirty="0"/>
              <a:t>3. Roll out the world model with the same action sequence</a:t>
            </a:r>
          </a:p>
          <a:p>
            <a:pPr lvl="1">
              <a:spcAft>
                <a:spcPts val="400"/>
              </a:spcAft>
            </a:pPr>
            <a:r>
              <a:rPr sz="1800" b="0" i="0" dirty="0"/>
              <a:t>4. Compare real vs. imagined frames side by side</a:t>
            </a:r>
          </a:p>
          <a:p>
            <a:pPr>
              <a:spcAft>
                <a:spcPts val="400"/>
              </a:spcAft>
            </a:pPr>
            <a:endParaRPr sz="1800" b="0" i="0" dirty="0">
              <a:latin typeface="+mn-lt"/>
            </a:endParaRPr>
          </a:p>
          <a:p>
            <a:pPr>
              <a:spcAft>
                <a:spcPts val="400"/>
              </a:spcAft>
            </a:pPr>
            <a:r>
              <a:rPr sz="1800" b="0" i="1" dirty="0">
                <a:latin typeface="+mn-lt"/>
              </a:rPr>
              <a:t>Same actions → only difference is the world model's prediction accuracy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3600" dirty="0"/>
              <a:t>Measuring Imagination Accuracy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1"/>
            <a:ext cx="4038600" cy="2622176"/>
          </a:xfrm>
        </p:spPr>
        <p:txBody>
          <a:bodyPr/>
          <a:lstStyle/>
          <a:p>
            <a:pPr>
              <a:spcAft>
                <a:spcPts val="400"/>
              </a:spcAft>
            </a:pPr>
            <a:r>
              <a:rPr sz="2000" b="0" i="0" dirty="0">
                <a:latin typeface="+mn-lt"/>
              </a:rPr>
              <a:t>Frame-Level Metrics</a:t>
            </a:r>
          </a:p>
          <a:p>
            <a:pPr>
              <a:spcAft>
                <a:spcPts val="400"/>
              </a:spcAft>
            </a:pPr>
            <a:endParaRPr sz="2000" b="0" i="0" dirty="0">
              <a:latin typeface="+mn-lt"/>
            </a:endParaRPr>
          </a:p>
          <a:p>
            <a:pPr>
              <a:spcAft>
                <a:spcPts val="400"/>
              </a:spcAft>
            </a:pPr>
            <a:r>
              <a:rPr sz="1800" b="0" i="0" dirty="0">
                <a:latin typeface="+mn-lt"/>
              </a:rPr>
              <a:t>MSE — pixel-level error</a:t>
            </a:r>
          </a:p>
          <a:p>
            <a:pPr>
              <a:spcAft>
                <a:spcPts val="400"/>
              </a:spcAft>
            </a:pPr>
            <a:r>
              <a:rPr sz="1800" b="0" i="0" dirty="0">
                <a:latin typeface="+mn-lt"/>
              </a:rPr>
              <a:t>SSIM — structural fidelity</a:t>
            </a:r>
          </a:p>
          <a:p>
            <a:pPr>
              <a:spcAft>
                <a:spcPts val="400"/>
              </a:spcAft>
            </a:pPr>
            <a:endParaRPr sz="1800" b="0" i="0" dirty="0">
              <a:latin typeface="+mn-lt"/>
            </a:endParaRPr>
          </a:p>
          <a:p>
            <a:pPr>
              <a:spcAft>
                <a:spcPts val="400"/>
              </a:spcAft>
            </a:pPr>
            <a:r>
              <a:rPr sz="1400" b="0" i="1" dirty="0">
                <a:latin typeface="+mn-lt"/>
              </a:rPr>
              <a:t>Captures overall visual quality of the world model's predictions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3590365"/>
          </a:xfrm>
        </p:spPr>
        <p:txBody>
          <a:bodyPr/>
          <a:lstStyle/>
          <a:p>
            <a:pPr>
              <a:spcAft>
                <a:spcPts val="400"/>
              </a:spcAft>
            </a:pPr>
            <a:r>
              <a:rPr sz="2000" b="0" i="0" dirty="0">
                <a:latin typeface="+mn-lt"/>
              </a:rPr>
              <a:t>Semantic Metrics</a:t>
            </a:r>
          </a:p>
          <a:p>
            <a:pPr>
              <a:spcAft>
                <a:spcPts val="400"/>
              </a:spcAft>
            </a:pPr>
            <a:endParaRPr sz="2000" b="0" i="0" dirty="0">
              <a:latin typeface="+mn-lt"/>
            </a:endParaRPr>
          </a:p>
          <a:p>
            <a:pPr>
              <a:spcAft>
                <a:spcPts val="400"/>
              </a:spcAft>
            </a:pPr>
            <a:r>
              <a:rPr sz="1800" b="0" i="0" dirty="0">
                <a:latin typeface="+mn-lt"/>
              </a:rPr>
              <a:t>Head position error</a:t>
            </a:r>
          </a:p>
          <a:p>
            <a:pPr>
              <a:spcAft>
                <a:spcPts val="400"/>
              </a:spcAft>
            </a:pPr>
            <a:r>
              <a:rPr sz="1800" b="0" i="0" dirty="0">
                <a:latin typeface="+mn-lt"/>
              </a:rPr>
              <a:t>Body segment accuracy</a:t>
            </a:r>
          </a:p>
          <a:p>
            <a:pPr>
              <a:spcAft>
                <a:spcPts val="400"/>
              </a:spcAft>
            </a:pPr>
            <a:r>
              <a:rPr sz="1800" b="0" i="0" dirty="0">
                <a:latin typeface="+mn-lt"/>
              </a:rPr>
              <a:t>Food location accuracy</a:t>
            </a:r>
          </a:p>
          <a:p>
            <a:pPr>
              <a:spcAft>
                <a:spcPts val="400"/>
              </a:spcAft>
            </a:pPr>
            <a:r>
              <a:rPr sz="1800" b="0" i="0" dirty="0">
                <a:latin typeface="+mn-lt"/>
              </a:rPr>
              <a:t>Collision prediction</a:t>
            </a:r>
          </a:p>
          <a:p>
            <a:pPr>
              <a:spcAft>
                <a:spcPts val="400"/>
              </a:spcAft>
            </a:pPr>
            <a:endParaRPr sz="1800" b="0" i="0" dirty="0">
              <a:latin typeface="+mn-lt"/>
            </a:endParaRPr>
          </a:p>
          <a:p>
            <a:pPr>
              <a:spcAft>
                <a:spcPts val="400"/>
              </a:spcAft>
            </a:pPr>
            <a:r>
              <a:rPr sz="1400" b="0" i="1" dirty="0">
                <a:latin typeface="+mn-lt"/>
              </a:rPr>
              <a:t>Captures whether the model understands the game state, not just the pixels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sz="3600" dirty="0"/>
              <a:t>Do Better Dreams Mean Better Play?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spcAft>
                <a:spcPts val="400"/>
              </a:spcAft>
              <a:buNone/>
            </a:pPr>
            <a:r>
              <a:rPr sz="1800" b="0" i="0" dirty="0">
                <a:latin typeface="+mn-lt"/>
              </a:rPr>
              <a:t>Track imagination accuracy and game performance across 20 checkpoints</a:t>
            </a:r>
          </a:p>
          <a:p>
            <a:pPr marL="0" indent="0">
              <a:spcAft>
                <a:spcPts val="400"/>
              </a:spcAft>
              <a:buNone/>
            </a:pPr>
            <a:r>
              <a:rPr sz="1800" b="0" i="0" dirty="0">
                <a:latin typeface="+mn-lt"/>
              </a:rPr>
              <a:t>Three possible outcomes:</a:t>
            </a:r>
          </a:p>
          <a:p>
            <a:pPr marL="0" indent="0">
              <a:spcAft>
                <a:spcPts val="400"/>
              </a:spcAft>
              <a:buNone/>
            </a:pPr>
            <a:endParaRPr sz="1800" b="0" i="0" dirty="0">
              <a:latin typeface="+mn-lt"/>
            </a:endParaRPr>
          </a:p>
          <a:p>
            <a:pPr marL="0" indent="0">
              <a:spcAft>
                <a:spcPts val="400"/>
              </a:spcAft>
              <a:buNone/>
            </a:pPr>
            <a:r>
              <a:rPr sz="1600" b="0" i="0" dirty="0">
                <a:latin typeface="+mn-lt"/>
              </a:rPr>
              <a:t>Accuracy ↑, Performance ↑</a:t>
            </a:r>
          </a:p>
          <a:p>
            <a:pPr marL="457200" lvl="1" indent="0">
              <a:spcAft>
                <a:spcPts val="400"/>
              </a:spcAft>
              <a:buNone/>
            </a:pPr>
            <a:r>
              <a:rPr sz="1600" b="0" i="0" dirty="0"/>
              <a:t>Better dreams drive better play — accuracy is critical</a:t>
            </a:r>
          </a:p>
          <a:p>
            <a:pPr marL="0" indent="0">
              <a:spcAft>
                <a:spcPts val="400"/>
              </a:spcAft>
              <a:buNone/>
            </a:pPr>
            <a:endParaRPr sz="1600" b="0" i="0" dirty="0">
              <a:latin typeface="+mn-lt"/>
            </a:endParaRPr>
          </a:p>
          <a:p>
            <a:pPr marL="0" indent="0">
              <a:spcAft>
                <a:spcPts val="400"/>
              </a:spcAft>
              <a:buNone/>
            </a:pPr>
            <a:r>
              <a:rPr sz="1600" b="0" i="0" dirty="0">
                <a:latin typeface="+mn-lt"/>
              </a:rPr>
              <a:t>Accuracy flat, Performance ↑</a:t>
            </a:r>
          </a:p>
          <a:p>
            <a:pPr marL="457200" lvl="1" indent="0">
              <a:spcAft>
                <a:spcPts val="400"/>
              </a:spcAft>
              <a:buNone/>
            </a:pPr>
            <a:r>
              <a:rPr sz="1600" b="0" i="0" dirty="0"/>
              <a:t>Agent succeeds despite imperfect dreams — policy is robust</a:t>
            </a:r>
          </a:p>
          <a:p>
            <a:pPr marL="0" indent="0">
              <a:spcAft>
                <a:spcPts val="400"/>
              </a:spcAft>
              <a:buNone/>
            </a:pPr>
            <a:endParaRPr sz="1600" b="0" i="0" dirty="0">
              <a:latin typeface="+mn-lt"/>
            </a:endParaRPr>
          </a:p>
          <a:p>
            <a:pPr marL="0" indent="0">
              <a:spcAft>
                <a:spcPts val="400"/>
              </a:spcAft>
              <a:buNone/>
            </a:pPr>
            <a:r>
              <a:rPr sz="1600" b="0" i="0" dirty="0">
                <a:latin typeface="+mn-lt"/>
              </a:rPr>
              <a:t>Accuracy ↑, Performance flat</a:t>
            </a:r>
          </a:p>
          <a:p>
            <a:pPr marL="457200" lvl="1" indent="0">
              <a:spcAft>
                <a:spcPts val="400"/>
              </a:spcAft>
              <a:buNone/>
            </a:pPr>
            <a:r>
              <a:rPr sz="1600" b="0" i="0" dirty="0"/>
              <a:t>Model improves but policy doesn't benefit — bottleneck elsewhere</a:t>
            </a:r>
          </a:p>
          <a:p>
            <a:pPr>
              <a:spcAft>
                <a:spcPts val="400"/>
              </a:spcAft>
            </a:pPr>
            <a:endParaRPr sz="1600" b="0" i="0" dirty="0"/>
          </a:p>
          <a:p>
            <a:pPr marL="0" indent="0">
              <a:spcAft>
                <a:spcPts val="400"/>
              </a:spcAft>
              <a:buNone/>
            </a:pPr>
            <a:r>
              <a:rPr sz="1800" b="0" i="1" dirty="0">
                <a:latin typeface="+mn-lt"/>
              </a:rPr>
              <a:t>Will also test which semantic metrics are most predictive of performance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3600" dirty="0"/>
              <a:t>Timeline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3993775"/>
          </a:xfrm>
        </p:spPr>
        <p:txBody>
          <a:bodyPr/>
          <a:lstStyle/>
          <a:p>
            <a:pPr marL="0" indent="0">
              <a:spcAft>
                <a:spcPts val="400"/>
              </a:spcAft>
              <a:buNone/>
            </a:pPr>
            <a:r>
              <a:rPr lang="en-US" sz="1800" i="0" dirty="0">
                <a:latin typeface="+mn-lt"/>
              </a:rPr>
              <a:t>- </a:t>
            </a:r>
            <a:r>
              <a:rPr sz="1800" i="0" dirty="0">
                <a:latin typeface="+mn-lt"/>
              </a:rPr>
              <a:t>Feb 19           Proposal presentation and paper</a:t>
            </a:r>
          </a:p>
          <a:p>
            <a:pPr marL="0" indent="0">
              <a:spcAft>
                <a:spcPts val="400"/>
              </a:spcAft>
              <a:buNone/>
            </a:pPr>
            <a:r>
              <a:rPr lang="en-US" sz="1800" i="0" dirty="0">
                <a:latin typeface="+mn-lt"/>
              </a:rPr>
              <a:t>- </a:t>
            </a:r>
            <a:r>
              <a:rPr sz="1800" i="0" dirty="0">
                <a:latin typeface="+mn-lt"/>
              </a:rPr>
              <a:t>Mar 1             Snake environment, DreamerV3 training</a:t>
            </a:r>
          </a:p>
          <a:p>
            <a:pPr marL="0" indent="0">
              <a:spcAft>
                <a:spcPts val="400"/>
              </a:spcAft>
              <a:buNone/>
            </a:pPr>
            <a:r>
              <a:rPr lang="en-US" sz="1800" i="0" dirty="0">
                <a:latin typeface="+mn-lt"/>
              </a:rPr>
              <a:t>- </a:t>
            </a:r>
            <a:r>
              <a:rPr sz="1800" i="0" dirty="0">
                <a:latin typeface="+mn-lt"/>
              </a:rPr>
              <a:t>Mar 15           Imagination extraction pipeline</a:t>
            </a:r>
          </a:p>
          <a:p>
            <a:pPr marL="0" indent="0">
              <a:spcAft>
                <a:spcPts val="400"/>
              </a:spcAft>
              <a:buNone/>
            </a:pPr>
            <a:r>
              <a:rPr lang="en-US" sz="1800" i="0" dirty="0">
                <a:latin typeface="+mn-lt"/>
              </a:rPr>
              <a:t>- </a:t>
            </a:r>
            <a:r>
              <a:rPr sz="1800" i="0" dirty="0">
                <a:latin typeface="+mn-lt"/>
              </a:rPr>
              <a:t>Mar 31           Checkpoint analysis complete</a:t>
            </a:r>
          </a:p>
          <a:p>
            <a:pPr marL="0" indent="0">
              <a:spcAft>
                <a:spcPts val="400"/>
              </a:spcAft>
              <a:buNone/>
            </a:pPr>
            <a:r>
              <a:rPr lang="en-US" sz="1800" i="0" dirty="0">
                <a:latin typeface="+mn-lt"/>
              </a:rPr>
              <a:t>- </a:t>
            </a:r>
            <a:r>
              <a:rPr sz="1800" i="0" dirty="0">
                <a:latin typeface="+mn-lt"/>
              </a:rPr>
              <a:t>Apr 1             Midterm presentation and paper</a:t>
            </a:r>
          </a:p>
          <a:p>
            <a:pPr marL="0" indent="0">
              <a:spcAft>
                <a:spcPts val="400"/>
              </a:spcAft>
              <a:buNone/>
            </a:pPr>
            <a:r>
              <a:rPr lang="en-US" sz="1800" i="0" dirty="0">
                <a:latin typeface="+mn-lt"/>
              </a:rPr>
              <a:t>- </a:t>
            </a:r>
            <a:r>
              <a:rPr sz="1800" i="0" dirty="0">
                <a:latin typeface="+mn-lt"/>
              </a:rPr>
              <a:t>Apr 15           Correlation and semantic metrics</a:t>
            </a:r>
          </a:p>
          <a:p>
            <a:pPr marL="0" indent="0">
              <a:spcAft>
                <a:spcPts val="400"/>
              </a:spcAft>
              <a:buNone/>
            </a:pPr>
            <a:r>
              <a:rPr lang="en-US" sz="1800" i="0" dirty="0">
                <a:latin typeface="+mn-lt"/>
              </a:rPr>
              <a:t>- </a:t>
            </a:r>
            <a:r>
              <a:rPr sz="1800" i="0" dirty="0">
                <a:latin typeface="+mn-lt"/>
              </a:rPr>
              <a:t>May 7             Final presentation</a:t>
            </a:r>
          </a:p>
          <a:p>
            <a:pPr marL="0" indent="0">
              <a:spcAft>
                <a:spcPts val="400"/>
              </a:spcAft>
              <a:buNone/>
            </a:pPr>
            <a:r>
              <a:rPr lang="en-US" sz="1800" i="0" dirty="0">
                <a:latin typeface="+mn-lt"/>
              </a:rPr>
              <a:t>- </a:t>
            </a:r>
            <a:r>
              <a:rPr sz="1800" i="0" dirty="0">
                <a:latin typeface="+mn-lt"/>
              </a:rPr>
              <a:t>May 12           Final paper</a:t>
            </a:r>
          </a:p>
          <a:p>
            <a:pPr marL="0" indent="0">
              <a:spcAft>
                <a:spcPts val="400"/>
              </a:spcAft>
              <a:buNone/>
            </a:pPr>
            <a:endParaRPr sz="1800" i="0" dirty="0">
              <a:latin typeface="+mn-lt"/>
            </a:endParaRPr>
          </a:p>
          <a:p>
            <a:pPr marL="0" indent="0">
              <a:spcAft>
                <a:spcPts val="400"/>
              </a:spcAft>
              <a:buNone/>
            </a:pPr>
            <a:r>
              <a:rPr lang="en-US" sz="1600" i="0" dirty="0">
                <a:latin typeface="+mn-lt"/>
              </a:rPr>
              <a:t>** </a:t>
            </a:r>
            <a:r>
              <a:rPr sz="1600" i="0" dirty="0">
                <a:latin typeface="+mn-lt"/>
              </a:rPr>
              <a:t>Hardware: RTX 5070 Ti (16GB VRAM), </a:t>
            </a:r>
            <a:r>
              <a:rPr sz="1600" i="0" dirty="0" err="1">
                <a:latin typeface="+mn-lt"/>
              </a:rPr>
              <a:t>PyTorch</a:t>
            </a:r>
            <a:r>
              <a:rPr sz="1600" i="0" dirty="0">
                <a:latin typeface="+mn-lt"/>
              </a:rPr>
              <a:t> 2.7.0, CUDA 12.8</a:t>
            </a:r>
            <a:r>
              <a:rPr lang="en-US" sz="1600" i="0" dirty="0">
                <a:latin typeface="+mn-lt"/>
              </a:rPr>
              <a:t> **</a:t>
            </a:r>
            <a:endParaRPr sz="1600" i="0" dirty="0">
              <a:latin typeface="+mn-lt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dirty="0"/>
              <a:t>Questions?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107141"/>
          </a:xfrm>
        </p:spPr>
        <p:txBody>
          <a:bodyPr/>
          <a:lstStyle/>
          <a:p>
            <a:r>
              <a:rPr dirty="0">
                <a:latin typeface="+mn-lt"/>
              </a:rPr>
              <a:t>Josh Manchester</a:t>
            </a:r>
          </a:p>
          <a:p>
            <a:r>
              <a:rPr dirty="0">
                <a:latin typeface="+mn-lt"/>
              </a:rPr>
              <a:t>jmanches@uccs.edu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uccs-powerpoint-template-2014-cobranded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5668813CFEF6E47A797800F728206B7" ma:contentTypeVersion="13" ma:contentTypeDescription="Create a new document." ma:contentTypeScope="" ma:versionID="d3d3bd070181dbaaa82f6af26cb54d1f">
  <xsd:schema xmlns:xsd="http://www.w3.org/2001/XMLSchema" xmlns:xs="http://www.w3.org/2001/XMLSchema" xmlns:p="http://schemas.microsoft.com/office/2006/metadata/properties" xmlns:ns3="aed9747a-cf76-43d3-9b8d-a27e657ee175" xmlns:ns4="93184699-e12f-40b8-87c1-2f561f48ace3" targetNamespace="http://schemas.microsoft.com/office/2006/metadata/properties" ma:root="true" ma:fieldsID="8785969ce3fbaddf363e6cf01a9249a7" ns3:_="" ns4:_="">
    <xsd:import namespace="aed9747a-cf76-43d3-9b8d-a27e657ee175"/>
    <xsd:import namespace="93184699-e12f-40b8-87c1-2f561f48ace3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MediaServiceSystem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_activity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ed9747a-cf76-43d3-9b8d-a27e657ee17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ystemTags" ma:index="12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_activity" ma:index="16" nillable="true" ma:displayName="_activity" ma:hidden="true" ma:internalName="_activity">
      <xsd:simpleType>
        <xsd:restriction base="dms:Note"/>
      </xsd:simpleType>
    </xsd:element>
    <xsd:element name="MediaServiceDateTaken" ma:index="20" nillable="true" ma:displayName="MediaServiceDateTaken" ma:hidden="true" ma:indexed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3184699-e12f-40b8-87c1-2f561f48ace3" elementFormDefault="qualified">
    <xsd:import namespace="http://schemas.microsoft.com/office/2006/documentManagement/types"/>
    <xsd:import namespace="http://schemas.microsoft.com/office/infopath/2007/PartnerControls"/>
    <xsd:element name="SharedWithUsers" ma:index="17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9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aed9747a-cf76-43d3-9b8d-a27e657ee175" xsi:nil="true"/>
  </documentManagement>
</p:properties>
</file>

<file path=customXml/itemProps1.xml><?xml version="1.0" encoding="utf-8"?>
<ds:datastoreItem xmlns:ds="http://schemas.openxmlformats.org/officeDocument/2006/customXml" ds:itemID="{18721A25-F547-4806-A925-716F15DCA520}">
  <ds:schemaRefs>
    <ds:schemaRef ds:uri="93184699-e12f-40b8-87c1-2f561f48ace3"/>
    <ds:schemaRef ds:uri="aed9747a-cf76-43d3-9b8d-a27e657ee175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00407A82-2BD1-4D26-B5DC-9893D0D6FEDC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C2762663-8081-475F-99D6-B764682E78B7}">
  <ds:schemaRefs>
    <ds:schemaRef ds:uri="93184699-e12f-40b8-87c1-2f561f48ace3"/>
    <ds:schemaRef ds:uri="aed9747a-cf76-43d3-9b8d-a27e657ee175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Presentation Slide Template</Template>
  <TotalTime>6</TotalTime>
  <Words>676</Words>
  <Application>Microsoft Office PowerPoint</Application>
  <PresentationFormat>On-screen Show (4:3)</PresentationFormat>
  <Paragraphs>113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Arial Black</vt:lpstr>
      <vt:lpstr>Calibri</vt:lpstr>
      <vt:lpstr>uccs-powerpoint-template-2014-cobranded</vt:lpstr>
      <vt:lpstr>How Accurate Are Learned World Models?</vt:lpstr>
      <vt:lpstr>Model-Based RL: Learning by Dreaming</vt:lpstr>
      <vt:lpstr>The Research Question</vt:lpstr>
      <vt:lpstr>Why This Matters</vt:lpstr>
      <vt:lpstr>Why Snake?</vt:lpstr>
      <vt:lpstr>DreamerV3 Architecture Overview</vt:lpstr>
      <vt:lpstr>Method: Training &amp; Trajectory Extraction</vt:lpstr>
      <vt:lpstr>Measuring Imagination Accuracy</vt:lpstr>
      <vt:lpstr>Do Better Dreams Mean Better Play?</vt:lpstr>
      <vt:lpstr>Timeline</vt:lpstr>
      <vt:lpstr>Questions?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Tristan Moffett</dc:creator>
  <cp:lastModifiedBy>Josh Manchester</cp:lastModifiedBy>
  <cp:revision>313</cp:revision>
  <dcterms:created xsi:type="dcterms:W3CDTF">2025-09-19T16:28:57Z</dcterms:created>
  <dcterms:modified xsi:type="dcterms:W3CDTF">2026-02-11T15:20:03Z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0x010100A5668813CFEF6E47A797800F728206B7</vt:lpwstr>
  </property>
</Properties>
</file>