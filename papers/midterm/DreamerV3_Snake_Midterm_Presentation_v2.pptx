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3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Manchester" userId="c007dd36b976cf96" providerId="LiveId" clId="{92357EA8-8600-4EBD-AED3-333971D492F6}"/>
    <pc:docChg chg="custSel modSld">
      <pc:chgData name="Josh Manchester" userId="c007dd36b976cf96" providerId="LiveId" clId="{92357EA8-8600-4EBD-AED3-333971D492F6}" dt="2026-03-29T15:04:33.087" v="6" actId="1076"/>
      <pc:docMkLst>
        <pc:docMk/>
      </pc:docMkLst>
      <pc:sldChg chg="modSp mod">
        <pc:chgData name="Josh Manchester" userId="c007dd36b976cf96" providerId="LiveId" clId="{92357EA8-8600-4EBD-AED3-333971D492F6}" dt="2026-03-29T14:59:40.207" v="2" actId="27636"/>
        <pc:sldMkLst>
          <pc:docMk/>
          <pc:sldMk cId="0" sldId="256"/>
        </pc:sldMkLst>
        <pc:spChg chg="mod">
          <ac:chgData name="Josh Manchester" userId="c007dd36b976cf96" providerId="LiveId" clId="{92357EA8-8600-4EBD-AED3-333971D492F6}" dt="2026-03-29T14:59:38.082" v="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3-29T14:59:40.207" v="2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3-29T15:01:09.773" v="4" actId="20577"/>
        <pc:sldMkLst>
          <pc:docMk/>
          <pc:sldMk cId="0" sldId="257"/>
        </pc:sldMkLst>
        <pc:spChg chg="mod">
          <ac:chgData name="Josh Manchester" userId="c007dd36b976cf96" providerId="LiveId" clId="{92357EA8-8600-4EBD-AED3-333971D492F6}" dt="2026-03-29T15:01:09.773" v="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osh Manchester" userId="c007dd36b976cf96" providerId="LiveId" clId="{92357EA8-8600-4EBD-AED3-333971D492F6}" dt="2026-03-29T15:04:33.087" v="6" actId="1076"/>
        <pc:sldMkLst>
          <pc:docMk/>
          <pc:sldMk cId="0" sldId="267"/>
        </pc:sldMkLst>
        <pc:spChg chg="mod">
          <ac:chgData name="Josh Manchester" userId="c007dd36b976cf96" providerId="LiveId" clId="{92357EA8-8600-4EBD-AED3-333971D492F6}" dt="2026-03-29T15:04:28.321" v="5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Josh Manchester" userId="c007dd36b976cf96" providerId="LiveId" clId="{92357EA8-8600-4EBD-AED3-333971D492F6}" dt="2026-03-29T15:04:33.087" v="6" actId="1076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47AC1-B2F2-4502-A893-6390D5360391}" type="datetimeFigureOut"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D3289-85B1-4FBA-BBA8-E9746D0F1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438400"/>
            <a:ext cx="7391400" cy="1023257"/>
          </a:xfrm>
          <a:prstGeom prst="rect">
            <a:avLst/>
          </a:prstGeom>
        </p:spPr>
      </p:pic>
      <p:pic>
        <p:nvPicPr>
          <p:cNvPr id="5" name="Picture 4" descr="UCwCampusesRev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91000"/>
            <a:ext cx="5029200" cy="9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51379"/>
            <a:ext cx="2581774" cy="354221"/>
          </a:xfrm>
          <a:prstGeom prst="rect">
            <a:avLst/>
          </a:prstGeom>
        </p:spPr>
      </p:pic>
      <p:pic>
        <p:nvPicPr>
          <p:cNvPr id="12" name="Picture 11" descr="UCwCampusesRev.png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6283472"/>
            <a:ext cx="2209801" cy="4221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03649"/>
            <a:ext cx="7772400" cy="1470025"/>
          </a:xfrm>
        </p:spPr>
        <p:txBody>
          <a:bodyPr/>
          <a:lstStyle/>
          <a:p>
            <a:r>
              <a:rPr dirty="0">
                <a:latin typeface="Arial"/>
              </a:rPr>
              <a:t>How Accurate Are Learned World Models?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11824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Arial"/>
              </a:rPr>
              <a:t>DreamerV3 Imagination Fidelity — Midterm Progress Report</a:t>
            </a:r>
          </a:p>
          <a:p>
            <a:endParaRPr dirty="0">
              <a:latin typeface="Arial"/>
            </a:endParaRPr>
          </a:p>
          <a:p>
            <a:r>
              <a:rPr dirty="0">
                <a:latin typeface="Arial"/>
              </a:rPr>
              <a:t>Josh Manchester — CS 5080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(Recap)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 dirty="0">
                <a:latin typeface="Arial"/>
              </a:rPr>
              <a:t>DreamerV3 trains its policy entirely inside imagined trajectories — the agent</a:t>
            </a:r>
            <a:endParaRPr lang="en-US" sz="1800" b="0" dirty="0">
              <a:latin typeface="Arial"/>
            </a:endParaRPr>
          </a:p>
          <a:p>
            <a:pPr marL="0" indent="0">
              <a:buNone/>
            </a:pPr>
            <a:r>
              <a:rPr sz="1800" b="0" dirty="0">
                <a:latin typeface="Arial"/>
              </a:rPr>
              <a:t>never practices in the real environment</a:t>
            </a:r>
          </a:p>
          <a:p>
            <a:pPr marL="0" indent="0">
              <a:buNone/>
            </a:pPr>
            <a:endParaRPr sz="1800" b="0" dirty="0">
              <a:latin typeface="Arial"/>
            </a:endParaRPr>
          </a:p>
          <a:p>
            <a:pPr marL="0" indent="0">
              <a:buNone/>
            </a:pPr>
            <a:r>
              <a:rPr sz="1800" b="0" dirty="0">
                <a:latin typeface="Arial"/>
              </a:rPr>
              <a:t>Does it need accurate imaginations to succeed?</a:t>
            </a:r>
          </a:p>
          <a:p>
            <a:pPr marL="0" indent="0">
              <a:buNone/>
            </a:pPr>
            <a:endParaRPr sz="1800" b="0" dirty="0">
              <a:latin typeface="Arial"/>
            </a:endParaRPr>
          </a:p>
          <a:p>
            <a:pPr marL="0" indent="0">
              <a:buNone/>
            </a:pPr>
            <a:r>
              <a:rPr sz="1800" b="0" dirty="0">
                <a:latin typeface="Arial"/>
              </a:rPr>
              <a:t>H1: Imagination accuracy improves over training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H2: Better imagination correlates with better gameplay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H3: Semantic accuracy matters more than pixel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Snake? (Recap)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 dirty="0">
                <a:latin typeface="Arial"/>
              </a:rPr>
              <a:t>Deterministic dynamics make errors unambiguous — when the model imagines wrong, we know exactly what went wrong</a:t>
            </a:r>
          </a:p>
          <a:p>
            <a:pPr marL="0" indent="0">
              <a:buNone/>
            </a:pPr>
            <a:endParaRPr sz="1800" b="0" dirty="0">
              <a:latin typeface="Arial"/>
            </a:endParaRPr>
          </a:p>
          <a:p>
            <a:pPr marL="0" indent="0">
              <a:buNone/>
            </a:pPr>
            <a:r>
              <a:rPr sz="1800" b="0" dirty="0">
                <a:latin typeface="Arial"/>
              </a:rPr>
              <a:t>Two levels of measurement:</a:t>
            </a:r>
          </a:p>
          <a:p>
            <a:pPr lvl="1"/>
            <a:r>
              <a:rPr sz="1600" b="0" dirty="0">
                <a:latin typeface="Arial"/>
              </a:rPr>
              <a:t>Pixel: MSE, SSIM</a:t>
            </a:r>
          </a:p>
          <a:p>
            <a:pPr lvl="1"/>
            <a:r>
              <a:rPr sz="1600" b="0" dirty="0">
                <a:latin typeface="Arial"/>
              </a:rPr>
              <a:t>Semantic: head position, body accuracy, food location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 dirty="0">
                <a:latin typeface="Arial"/>
              </a:rPr>
              <a:t>Snake as an MDP</a:t>
            </a:r>
          </a:p>
          <a:p>
            <a:pPr marL="0" indent="0">
              <a:buNone/>
            </a:pPr>
            <a:endParaRPr sz="1800" b="0" dirty="0">
              <a:latin typeface="Arial"/>
            </a:endParaRPr>
          </a:p>
          <a:p>
            <a:pPr marL="0" indent="0">
              <a:buNone/>
            </a:pPr>
            <a:r>
              <a:rPr sz="1800" b="0" dirty="0">
                <a:latin typeface="Arial"/>
              </a:rPr>
              <a:t>State: N × N grid (RGB)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Actions: {Up, Down, Left, Right}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Reward: +1 food, −1 collision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Step penalty: −0.002/step</a:t>
            </a:r>
          </a:p>
          <a:p>
            <a:pPr marL="0" indent="0">
              <a:buNone/>
            </a:pPr>
            <a:r>
              <a:rPr sz="1800" b="0" dirty="0">
                <a:latin typeface="Arial"/>
              </a:rPr>
              <a:t>Discount: γ = 0.999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Has Been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Five training configurations complete with full imagination analysis</a:t>
            </a:r>
          </a:p>
          <a:p>
            <a:pPr lvl="1"/>
            <a:r>
              <a:rPr sz="1600" b="0">
                <a:latin typeface="Arial"/>
              </a:rPr>
              <a:t>Baseline (1.1M steps, 64×64, train ratio 256)</a:t>
            </a:r>
          </a:p>
          <a:p>
            <a:pPr lvl="1"/>
            <a:r>
              <a:rPr sz="1600" b="0">
                <a:latin typeface="Arial"/>
              </a:rPr>
              <a:t>Extended (2M steps, fine-tuned from Baseline)</a:t>
            </a:r>
          </a:p>
          <a:p>
            <a:pPr lvl="1"/>
            <a:r>
              <a:rPr sz="1600" b="0">
                <a:latin typeface="Arial"/>
              </a:rPr>
              <a:t>High LR — 3× learning rates, never stabilized</a:t>
            </a:r>
          </a:p>
          <a:p>
            <a:pPr lvl="1"/>
            <a:r>
              <a:rPr sz="1600" b="0">
                <a:latin typeface="Arial"/>
              </a:rPr>
              <a:t>Slow LR — ⅓ learning rates, competitive by 2M</a:t>
            </a:r>
          </a:p>
          <a:p>
            <a:pPr lvl="1"/>
            <a:r>
              <a:rPr sz="1600" b="0">
                <a:latin typeface="Arial"/>
              </a:rPr>
              <a:t>Res-32 and Res-16 (~557K/514K steps†)</a:t>
            </a:r>
          </a:p>
          <a:p>
            <a:pPr marL="0" indent="0">
              <a:buNone/>
            </a:pPr>
            <a:endParaRPr sz="16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Model 6 (doubled train ratio) in progress at ~800K/2M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† Resolution models hit ~500K due to config error, not the intended 2M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Performance varies widely across configurations</a:t>
            </a:r>
          </a:p>
          <a:p>
            <a:pPr lvl="1"/>
            <a:r>
              <a:rPr sz="1600" b="0">
                <a:latin typeface="Arial"/>
              </a:rPr>
              <a:t>Extended (fine-tuned):  Mean 31.2,  Peak 54.3</a:t>
            </a:r>
          </a:p>
          <a:p>
            <a:pPr lvl="1"/>
            <a:r>
              <a:rPr sz="1600" b="0">
                <a:latin typeface="Arial"/>
              </a:rPr>
              <a:t>Slow LR:  Mean 16.6,  Peak 24.6</a:t>
            </a:r>
          </a:p>
          <a:p>
            <a:pPr lvl="1"/>
            <a:r>
              <a:rPr sz="1600" b="0">
                <a:latin typeface="Arial"/>
              </a:rPr>
              <a:t>Baseline:  Mean 9.8,  Peak 25.7</a:t>
            </a:r>
          </a:p>
          <a:p>
            <a:pPr lvl="1"/>
            <a:r>
              <a:rPr sz="1600" b="0">
                <a:latin typeface="Arial"/>
              </a:rPr>
              <a:t>High LR:  Unstable, oscillated −4 to +19</a:t>
            </a:r>
          </a:p>
          <a:p>
            <a:pPr lvl="1"/>
            <a:r>
              <a:rPr sz="1600" b="0">
                <a:latin typeface="Arial"/>
              </a:rPr>
              <a:t>Res-32 / Res-16:  Peak 13.6 / 9.1 (limited steps†)</a:t>
            </a:r>
          </a:p>
          <a:p>
            <a:pPr marL="0" indent="0">
              <a:buNone/>
            </a:pPr>
            <a:endParaRPr sz="16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Resolution dramatically affects gameplay even on the same 10×10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H1: Imagination Improves Over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Well-supported across all actively learning models — Baseline, Slow LR, Res-32, and Res-16 all show 5/5 metrics improving, with significance ranging from 2/5 to 5/5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Head error in the Baseline drops from 0.268 to 0.023 grid cells — near-perfect localization of the snake head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The Extended model (fine-tuned) shows no significant improvement — its world model was already good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The world model learns fast, then plateaus. Policy learning is the slow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H2: Imagination Correlates with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Slow LR — Pixel metrics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MSE:  ρ = 0.023  (p = 0.920)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SSIM:  ρ = 0.066  (p = 0.776)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No relationship with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Slow LR — Semantic metrics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Head Error:  ρ = 0.514  (p = 0.017*)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Body Acc:  ρ = 0.740  (p = 0.0001*)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Strong relationship with performance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Baseline head error:  ρ = 0.843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H3: The Key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Under the slow learning rate, semantic metrics outpredict pixel metrics by more than 10×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Semantic avg |ρ| = 0.522  vs  Pixel avg |ρ| = 0.045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Fisher's z-test:  p = 0.008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No other configuration reaches significance — under normal learning rates, visual and semantic capabilities improve together, masking which one the policy relies on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The slow rate decouples them, revealing the policy depends on semantic accuracy, not pixel accuracy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Tested 16×16, 32×32, and 64×64 observations on the same 10×10 grid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Lower resolution produces worse gameplay but cleaner statistical signals — the prediction task is simpler, so learning trends are more visible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At 16×16 each grid cell is about 1.5 pixels — easy to predict, but the agent cannot plan effectively with so little spatial detail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Caveat: these models ran ~500K steps due to a configuration error and are not directly comparable with the 2M-step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Model 6 (high train ratio) at ~800K/2M, estimated early April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Model 7 (20×20 board, 128×128 obs) planned for mid-April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Additional analysis: collision prediction accuracy, longer imagination horizons beyond the current 15 steps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The key question for the final paper: does the H3 result replicate?</a:t>
            </a:r>
          </a:p>
          <a:p>
            <a:pPr lvl="1"/>
            <a:r>
              <a:rPr sz="1600" b="0">
                <a:latin typeface="Arial"/>
              </a:rPr>
              <a:t>If yes — a general principle about model-based RL</a:t>
            </a:r>
          </a:p>
          <a:p>
            <a:pPr lvl="1"/>
            <a:r>
              <a:rPr sz="1600" b="0">
                <a:latin typeface="Arial"/>
              </a:rPr>
              <a:t>If no — specific to the slow learning rate regime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0">
                <a:latin typeface="Arial"/>
              </a:rPr>
              <a:t>H1 is well-supported — 4 to 5 of 5 metrics significant in active models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H2 is well-supported — head error ρ = 0.843 in the Baseline</a:t>
            </a:r>
          </a:p>
          <a:p>
            <a:pPr marL="0" indent="0">
              <a:buNone/>
            </a:pPr>
            <a:r>
              <a:rPr sz="1800" b="0">
                <a:latin typeface="Arial"/>
              </a:rPr>
              <a:t>H3 has one significant result (p = 0.008) that needs replication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The emerging picture: DreamerV3 does not need visually accurate dreams — it needs dreams that capture the right game structure</a:t>
            </a:r>
          </a:p>
          <a:p>
            <a:pPr marL="0" indent="0">
              <a:buNone/>
            </a:pPr>
            <a:endParaRPr sz="1800" b="0">
              <a:latin typeface="Arial"/>
            </a:endParaRPr>
          </a:p>
          <a:p>
            <a:pPr marL="0" indent="0">
              <a:buNone/>
            </a:pPr>
            <a:r>
              <a:rPr sz="1800" b="0">
                <a:latin typeface="Arial"/>
              </a:rPr>
              <a:t>On track for the final paper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 dirty="0">
                <a:latin typeface="Arial"/>
              </a:rP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69023"/>
            <a:ext cx="6400800" cy="1752600"/>
          </a:xfrm>
        </p:spPr>
        <p:txBody>
          <a:bodyPr/>
          <a:lstStyle/>
          <a:p>
            <a:r>
              <a:rPr dirty="0">
                <a:latin typeface="Arial"/>
              </a:rPr>
              <a:t>Josh Manchester — CS 5080</a:t>
            </a:r>
          </a:p>
          <a:p>
            <a:r>
              <a:rPr dirty="0">
                <a:latin typeface="Arial"/>
              </a:rPr>
              <a:t>manchesterjm@uccs.edu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d9747a-cf76-43d3-9b8d-a27e657ee1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668813CFEF6E47A797800F728206B7" ma:contentTypeVersion="13" ma:contentTypeDescription="Create a new document." ma:contentTypeScope="" ma:versionID="d3d3bd070181dbaaa82f6af26cb54d1f">
  <xsd:schema xmlns:xsd="http://www.w3.org/2001/XMLSchema" xmlns:xs="http://www.w3.org/2001/XMLSchema" xmlns:p="http://schemas.microsoft.com/office/2006/metadata/properties" xmlns:ns3="aed9747a-cf76-43d3-9b8d-a27e657ee175" xmlns:ns4="93184699-e12f-40b8-87c1-2f561f48ace3" targetNamespace="http://schemas.microsoft.com/office/2006/metadata/properties" ma:root="true" ma:fieldsID="8785969ce3fbaddf363e6cf01a9249a7" ns3:_="" ns4:_="">
    <xsd:import namespace="aed9747a-cf76-43d3-9b8d-a27e657ee175"/>
    <xsd:import namespace="93184699-e12f-40b8-87c1-2f561f48ac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9747a-cf76-43d3-9b8d-a27e657e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84699-e12f-40b8-87c1-2f561f48a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762663-8081-475F-99D6-B764682E78B7}">
  <ds:schemaRefs>
    <ds:schemaRef ds:uri="93184699-e12f-40b8-87c1-2f561f48ace3"/>
    <ds:schemaRef ds:uri="aed9747a-cf76-43d3-9b8d-a27e657ee1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0407A82-2BD1-4D26-B5DC-9893D0D6FE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721A25-F547-4806-A925-716F15DCA520}">
  <ds:schemaRefs>
    <ds:schemaRef ds:uri="93184699-e12f-40b8-87c1-2f561f48ace3"/>
    <ds:schemaRef ds:uri="aed9747a-cf76-43d3-9b8d-a27e657ee1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Slide Template</Template>
  <TotalTime>11</TotalTime>
  <Words>801</Words>
  <Application>Microsoft Office PowerPoint</Application>
  <PresentationFormat>On-screen Show (4:3)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uccs-powerpoint-template-2014-cobranded</vt:lpstr>
      <vt:lpstr>How Accurate Are Learned World Models?</vt:lpstr>
      <vt:lpstr>Research Question (Recap)</vt:lpstr>
      <vt:lpstr>Why Snake? (Recap)</vt:lpstr>
      <vt:lpstr>What Has Been Completed</vt:lpstr>
      <vt:lpstr>Game Performance</vt:lpstr>
      <vt:lpstr>H1: Imagination Improves Over Training</vt:lpstr>
      <vt:lpstr>H2: Imagination Correlates with Performance</vt:lpstr>
      <vt:lpstr>H3: The Key Finding</vt:lpstr>
      <vt:lpstr>Resolution Experiment</vt:lpstr>
      <vt:lpstr>Remaining Work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Tristan Moffett</dc:creator>
  <cp:lastModifiedBy>Josh Manchester</cp:lastModifiedBy>
  <cp:revision>313</cp:revision>
  <dcterms:created xsi:type="dcterms:W3CDTF">2025-09-19T16:28:57Z</dcterms:created>
  <dcterms:modified xsi:type="dcterms:W3CDTF">2026-03-29T15:04:38Z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0x010100A5668813CFEF6E47A797800F728206B7</vt:lpwstr>
  </property>
</Properties>
</file>